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Maqsat — по-казахски «цель». Мы помогаем пройти путь от «я где-то слышал о программе» до «заявка отправлена вовремя».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финала начинается ровно с этих трёх ситуаций. Наш продукт отвечает на каждую: подбор, проверка условий,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цифра — наш собственный сбор данных, её можно проверить на экране «Откуда данные». Нижняя строка — только реальные ответы опроса; если опрос не успели, удалите 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отличие от каналов с объявлениями: мы не просто показываем возможность, а говорим, подходит ли она именно тебе и чего не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главная → «Посмотреть на примере». Показать карточку ML School (дедлайн 8 октября), Yale (почти: английский), НУ (позже, 2028).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добавить 2–3 возможности → «Мой план» → показать предупреждение о двух дедлайнах → нажать «Добавить в календарь». Запасной путь: #demo-plan.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прямой ответ на принцип кейса «Evidence over assumptions»: мы показываем пользователю, насколько можно доверять каждому факту.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говорите, что аналогов нет: жюри знает Telegram-каналы и агрегаторы. Наше отличие — персональная проверка условий и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280160" y="228599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82296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9624" y="374904"/>
            <a:ext cx="164592" cy="164592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1645919"/>
            <a:ext cx="4206240" cy="4206240"/>
          </a:xfrm>
          <a:prstGeom prst="ellipse">
            <a:avLst/>
          </a:prstGeom>
          <a:solidFill>
            <a:srgbClr val="ECEEFC"/>
          </a:solidFill>
          <a:ln w="38100">
            <a:solidFill>
              <a:srgbClr val="C3C9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2240279"/>
            <a:ext cx="3017520" cy="3017520"/>
          </a:xfrm>
          <a:prstGeom prst="ellipse">
            <a:avLst/>
          </a:prstGeom>
          <a:solidFill>
            <a:srgbClr val="C3C9F4"/>
          </a:solidFill>
          <a:ln w="38100">
            <a:solidFill>
              <a:srgbClr val="6E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83080" y="2834639"/>
            <a:ext cx="1828800" cy="182880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3337559"/>
            <a:ext cx="822960" cy="82296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100">
                <a:solidFill>
                  <a:srgbClr val="111424"/>
                </a:solidFill>
                <a:latin typeface="Arial Black"/>
              </a:rPr>
              <a:t>ЦЕЛЬ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73735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F3FBF"/>
                </a:solidFill>
                <a:latin typeface="Arial Black"/>
              </a:rPr>
              <a:t>ВОЗМОЖНОСТЬ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47A"/>
                </a:solidFill>
                <a:latin typeface="Arial Black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9717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 Black"/>
              </a:rPr>
              <a:t>ШАГИ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78892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11424"/>
                </a:solidFill>
                <a:latin typeface="Arial Black"/>
              </a:rPr>
              <a:t>ОТ ВОЗМОЖНОСТИ К РЕЗУЛЬТАТУ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2044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Подбор образовательных возможностей и план назад от дедлайна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5196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62"/>
                </a:solidFill>
                <a:latin typeface="Arial Black"/>
              </a:rPr>
              <a:t>Олимпиады, стипендии, обменные и летние программы, бесплатные IT-школы — кто подходит, чего не хватает и что делать на этой неделе. Мақсат (каз.) — цель.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349240"/>
            <a:ext cx="301752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Финал · EduTech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94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ЕСТЬ — ДОЙТИ ДО НИХ СЛОЖНО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377440"/>
            <a:ext cx="731520" cy="731520"/>
          </a:xfrm>
          <a:prstGeom prst="ellipse">
            <a:avLst/>
          </a:prstGeom>
          <a:solidFill>
            <a:srgbClr val="B3312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3312F"/>
                </a:solidFill>
                <a:latin typeface="Arial Black"/>
              </a:rPr>
              <a:t>Узнал после дедлайна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Информация разбросана по десяткам сайтов и каналов. О конкурсе узнают, когда регистрация уже закрыта.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81727" y="2377440"/>
            <a:ext cx="731520" cy="731520"/>
          </a:xfrm>
          <a:prstGeom prst="ellipse">
            <a:avLst/>
          </a:prstGeom>
          <a:solidFill>
            <a:srgbClr val="9A52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9A5200"/>
                </a:solidFill>
                <a:latin typeface="Arial Black"/>
              </a:rPr>
              <a:t>Не понял, подходит 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«Sophomore or junior (or equivalent)», «16–17 лет на 1 сентября года поступления», «IELTS 6.0, Writing 6.0» — условия написаны не для школьника.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7" y="2377440"/>
            <a:ext cx="731520" cy="731520"/>
          </a:xfrm>
          <a:prstGeom prst="ellipse">
            <a:avLst/>
          </a:prstGeom>
          <a:solidFill>
            <a:srgbClr val="5B48C9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48C9"/>
                </a:solidFill>
                <a:latin typeface="Arial Black"/>
              </a:rPr>
              <a:t>Начал слишком поздно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Сертификат IELTS, рекомендации и эссе требуют недель. За 2–3 недели до дедлайна часть шагов уже не успеть.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Все три ситуации — из текста финального кейса. Ниже — что мы увидели сами, когда собирали данные.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ИССЛЕДОВАНИЕ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СРОКИ ПОЧТИ НИКОГДА НЕ ИЗВЕСТНЫ ЗАРАНЕЕ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0C7A5C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нового
цикла опубликованы</a:t>
            </a:r>
          </a:p>
        </p:txBody>
      </p:sp>
      <p:sp>
        <p:nvSpPr>
          <p:cNvPr id="10" name="Oval 9"/>
          <p:cNvSpPr/>
          <p:nvPr/>
        </p:nvSpPr>
        <p:spPr>
          <a:xfrm>
            <a:off x="324612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9A5200"/>
                </a:solidFill>
                <a:latin typeface="Arial Blac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только оценка
по прошлому году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B331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B3312F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нет
вообще</a:t>
            </a:r>
          </a:p>
        </p:txBody>
      </p:sp>
      <p:sp>
        <p:nvSpPr>
          <p:cNvPr id="14" name="Oval 13"/>
          <p:cNvSpPr/>
          <p:nvPr/>
        </p:nvSpPr>
        <p:spPr>
          <a:xfrm>
            <a:off x="864108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2F3FB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набор
идёт постоянно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11424"/>
                </a:solidFill>
                <a:latin typeface="Arial Black"/>
              </a:rPr>
              <a:t>Мы сами собрали 13 возможностей для школьников Казахстана по официальным сайтам и открытым источникам 26.09.2026.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577840"/>
            <a:ext cx="108813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3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692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F3FBF"/>
                </a:solidFill>
                <a:latin typeface="Arial Black"/>
              </a:rPr>
              <a:t>Опрос и интервью — заполните реальными данными: </a:t>
            </a:r>
            <a:r>
              <a:rPr sz="1100" b="0" i="0">
                <a:solidFill>
                  <a:srgbClr val="111424"/>
                </a:solidFill>
                <a:latin typeface="Arial Black"/>
              </a:rPr>
              <a:t>__% учеников узнавали о возможности после дедлайна (n = __); главный барьер — __. Вопросы: docs/research-plan.md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РЕШЕНИЕ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ПРОФИЛЬ → ПОДБОР → ПЛАН → КАЛЕНДАРЬ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0010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Профиль за минуту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Возраст, класс, английский или IELTS, средний балл, город, интересы. Без регистрации.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26279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589019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Подбор с проверкой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Для каждой возможности: подходишь, почти (и чего не хватает) или станет доступно позже.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37794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План назад от дедлайна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Когда записаться на IELTS, просить рекомендации, писать эссе. Конфликты дедлайнов — сразу видны.</a:t>
            </a:r>
          </a:p>
        </p:txBody>
      </p:sp>
      <p:sp>
        <p:nvSpPr>
          <p:cNvPr id="20" name="Oval 19"/>
          <p:cNvSpPr/>
          <p:nvPr/>
        </p:nvSpPr>
        <p:spPr>
          <a:xfrm>
            <a:off x="9166859" y="2308860"/>
            <a:ext cx="868680" cy="868680"/>
          </a:xfrm>
          <a:prstGeom prst="ellipse">
            <a:avLst/>
          </a:prstGeom>
          <a:solidFill>
            <a:srgbClr val="F2A9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111424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Календарь и прогресс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Все шаги — в календарь телефона с напоминаниями. «Сделай сегодня» и прогресс по целям.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Работает на любом телефоне и без интернета — без установки и регистрации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ПОДБОР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НЕ СПИСОК, А ПРОВЕРКА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2377440" cy="749808"/>
          </a:xfrm>
          <a:prstGeom prst="rect">
            <a:avLst/>
          </a:prstGeom>
          <a:solidFill>
            <a:srgbClr val="DC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0C7A5C"/>
                </a:solidFill>
                <a:latin typeface="Arial Black"/>
              </a:rPr>
              <a:t>✓ ПОДХОДИШЬ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46888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для 10-классника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5059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Возраст считается на 1 сентября года поступления: будет 17 — подходит.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2377440" cy="749808"/>
          </a:xfrm>
          <a:prstGeom prst="rect">
            <a:avLst/>
          </a:prstGeom>
          <a:solidFill>
            <a:srgbClr val="FD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9A5200"/>
                </a:solidFill>
                <a:latin typeface="Arial Black"/>
              </a:rPr>
              <a:t>△ ПОЧТИ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Yale Young Global Scholars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1927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Английский B1, ориентир — B2. План сам добавит шаги по языку.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2377440" cy="749808"/>
          </a:xfrm>
          <a:prstGeom prst="rect">
            <a:avLst/>
          </a:prstGeom>
          <a:solidFill>
            <a:srgbClr val="E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5B48C9"/>
                </a:solidFill>
                <a:latin typeface="Arial Black"/>
              </a:rPr>
              <a:t>⏳ ПОЗЖЕ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420624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Назарбаев Университет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87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Сейчас 10 класс. Профиль «переводится» на год вперёд: станет доступно в 2028.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83479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79"/>
            <a:ext cx="2377440" cy="749808"/>
          </a:xfrm>
          <a:prstGeom prst="rect">
            <a:avLst/>
          </a:prstGeom>
          <a:solidFill>
            <a:srgbClr val="FBE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B3312F"/>
                </a:solidFill>
                <a:latin typeface="Arial Black"/>
              </a:rPr>
              <a:t>✗ НЕ ПОДХОДИТ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5074919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без гражданства РК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56631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Гражданство или ВНЖ — жёсткое условие; такие программы скрыты по умолчанию.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Примеры — реальный результат приложения для демо-профиля: 10 класс, Алматы, английский B1.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19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ДЛЯ ТЕБЯ</a:t>
            </a:r>
          </a:p>
        </p:txBody>
      </p:sp>
      <p:pic>
        <p:nvPicPr>
          <p:cNvPr id="9" name="Picture 8" descr="matches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640080" y="2331720"/>
            <a:ext cx="6675120" cy="4171950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7799831" y="23134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5120" y="23787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24190" y="24377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Статус и пробелы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517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подходишь / почти / позже — с объяснением по каждому условию</a:t>
            </a:r>
          </a:p>
        </p:txBody>
      </p:sp>
      <p:sp>
        <p:nvSpPr>
          <p:cNvPr id="15" name="Oval 14"/>
          <p:cNvSpPr/>
          <p:nvPr/>
        </p:nvSpPr>
        <p:spPr>
          <a:xfrm>
            <a:off x="7799831" y="32278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5120" y="32931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4190" y="33521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Дедлайн и отсчёт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5661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«через 12 дней»; красным — если меньше 3 недель</a:t>
            </a:r>
          </a:p>
        </p:txBody>
      </p:sp>
      <p:sp>
        <p:nvSpPr>
          <p:cNvPr id="20" name="Oval 19"/>
          <p:cNvSpPr/>
          <p:nvPr/>
        </p:nvSpPr>
        <p:spPr>
          <a:xfrm>
            <a:off x="7799831" y="41422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5120" y="42075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24190" y="42665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4114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Честная дата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4805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«ориентировочно» и на чём основана оценка</a:t>
            </a:r>
          </a:p>
        </p:txBody>
      </p:sp>
      <p:sp>
        <p:nvSpPr>
          <p:cNvPr id="25" name="Oval 24"/>
          <p:cNvSpPr/>
          <p:nvPr/>
        </p:nvSpPr>
        <p:spPr>
          <a:xfrm>
            <a:off x="7799831" y="50566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5120" y="51219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4190" y="51809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5029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Источник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3949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ссылка на официальный сайт и дата проверки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5989320"/>
            <a:ext cx="3108960" cy="41148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Живое демо: #demo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0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29290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2259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НАЗАД ОТ ДЕДЛАЙНА</a:t>
            </a:r>
          </a:p>
        </p:txBody>
      </p:sp>
      <p:pic>
        <p:nvPicPr>
          <p:cNvPr id="9" name="Picture 8" descr="plan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4846320" y="1234440"/>
            <a:ext cx="6720840" cy="4200525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640080" y="25420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5368" y="26073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4438" y="26663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514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Сделай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62072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один следующий шаг, а не список на полгода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474720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368" y="3540008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4438" y="3599078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447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Конфликт дедлайнов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94760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UWC 5 января и Yale 6 января — видно заранее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407408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368" y="4472696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4438" y="4531766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79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Сжатый график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727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опоздал с началом — шаги сжимаются, есть более поздний раунд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340096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5368" y="5405384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4438" y="5464454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31266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Календарь и печать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66013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.ics с напоминаниями; версия для родителей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МЫ НЕ ПРИДУМЫВАЕМ ДАТЫ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2834640" cy="658368"/>
          </a:xfrm>
          <a:prstGeom prst="rect">
            <a:avLst/>
          </a:prstGeom>
          <a:solidFill>
            <a:srgbClr val="DCF2EA"/>
          </a:solidFill>
          <a:ln w="1905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0C7A5C"/>
                </a:solidFill>
                <a:latin typeface="Arial Black"/>
              </a:rPr>
              <a:t>без пометки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46888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Сверено с официальным сайтом организатора 26.09.2026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2834640" cy="658368"/>
          </a:xfrm>
          <a:prstGeom prst="rect">
            <a:avLst/>
          </a:prstGeom>
          <a:solidFill>
            <a:srgbClr val="FDECD6"/>
          </a:solidFill>
          <a:ln w="1905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9A5200"/>
                </a:solidFill>
                <a:latin typeface="Arial Black"/>
              </a:rPr>
              <a:t>УТОЧНИТЕ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29184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По открытым источникам или СМИ — проверьте перед подачей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23360"/>
            <a:ext cx="2834640" cy="658368"/>
          </a:xfrm>
          <a:prstGeom prst="rect">
            <a:avLst/>
          </a:prstGeom>
          <a:solidFill>
            <a:srgbClr val="EBE7FB"/>
          </a:solidFill>
          <a:ln w="19050">
            <a:solidFill>
              <a:srgbClr val="5B48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5B48C9"/>
                </a:solidFill>
                <a:latin typeface="Arial Black"/>
              </a:rPr>
              <a:t>НАША ОЦЕНКА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11480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Организатор не называет значение (например, уровень английского)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46320"/>
            <a:ext cx="2834640" cy="658368"/>
          </a:xfrm>
          <a:prstGeom prst="rect">
            <a:avLst/>
          </a:prstGeom>
          <a:solidFill>
            <a:srgbClr val="FFF1D6"/>
          </a:solidFill>
          <a:ln w="19050">
            <a:solidFill>
              <a:srgbClr val="B8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B87700"/>
                </a:solidFill>
                <a:latin typeface="Arial Black"/>
              </a:rPr>
              <a:t>ОРИЕНТИРОВОЧНО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93776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Срок нового цикла не объявлен — дата по прошлому циклу и её основание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Срок не опубликован? Не угадываем — пользователь указывает дату сам, когда её объявят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КОНКУРЕНТЫ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ЧЕМ МЫ ОТЛИЧАЕМСЯ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19456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ЧТО ЕСТЬ СЕЙЧАС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87752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Telegram-каналы с объявлениями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569464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Лента постов: быстро, но без проверки условий и без плана; старое уходит вниз.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27832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00984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Сайты-агрегаторы возможностей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282696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Большие каталоги на английском; фильтры по стране и типу, но не по твоему профилю.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41064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14216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Официальные сайты программ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95928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Точные условия, но у каждой программы свой сайт, свой язык и свой календарь.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54296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Школьный учитель / профориентатор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709159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Знает учеников, но не успевает следить за десятками программ и сроков.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Maqsat: проверка условий под твой профиль + план назад от дедлайна + календарь + честные данные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ТЕХНИКА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ПРОСТО, НАДЁЖНО, ДОСТУПНО</a:t>
            </a:r>
          </a:p>
        </p:txBody>
      </p:sp>
      <p:pic>
        <p:nvPicPr>
          <p:cNvPr id="8" name="Picture 7" descr="mobile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9098280" y="1097280"/>
            <a:ext cx="2423160" cy="4710623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64008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HTML/CSS/JS без зависимостей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Данные отделены от движка: новая возможность — одна запись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Календарь по стандарту iCalendar (RFC 5545)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33 автотеста: база, условия, план, календарь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Доступность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Без регистрации; данные — только на устройстве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Работает офлайн (PWA), ставится на телефон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Клавиатура, экранные дикторы, крупные кнопки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Тёмная тема, печать для родителей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КАК ИЗМЕРИМ ЭФФЕКТ</a:t>
            </a:r>
          </a:p>
        </p:txBody>
      </p:sp>
      <p:sp>
        <p:nvSpPr>
          <p:cNvPr id="12" name="Oval 11"/>
          <p:cNvSpPr/>
          <p:nvPr/>
        </p:nvSpPr>
        <p:spPr>
          <a:xfrm>
            <a:off x="75438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999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554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Заявки до дедлайна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главная метрика</a:t>
            </a:r>
          </a:p>
        </p:txBody>
      </p:sp>
      <p:sp>
        <p:nvSpPr>
          <p:cNvPr id="17" name="Oval 16"/>
          <p:cNvSpPr/>
          <p:nvPr/>
        </p:nvSpPr>
        <p:spPr>
          <a:xfrm>
            <a:off x="358902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463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8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Шаги в срок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работает ли план</a:t>
            </a:r>
          </a:p>
        </p:txBody>
      </p:sp>
      <p:sp>
        <p:nvSpPr>
          <p:cNvPr id="22" name="Oval 21"/>
          <p:cNvSpPr/>
          <p:nvPr/>
        </p:nvSpPr>
        <p:spPr>
          <a:xfrm>
            <a:off x="6423659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927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2482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&lt; 3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до готового плана</a:t>
            </a:r>
          </a:p>
        </p:txBody>
      </p:sp>
      <p:sp>
        <p:nvSpPr>
          <p:cNvPr id="27" name="Oval 26"/>
          <p:cNvSpPr/>
          <p:nvPr/>
        </p:nvSpPr>
        <p:spPr>
          <a:xfrm>
            <a:off x="925830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6391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5946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«Почти» → «подходишь»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помогает ли разбор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Дорожная карта: </a:t>
            </a:r>
            <a:r>
              <a:rPr sz="1200" b="0" i="0">
                <a:solidFill>
                  <a:srgbClr val="111424"/>
                </a:solidFill>
                <a:latin typeface="Arial Black"/>
              </a:rPr>
              <a:t>Казахский язык · база 100+ возможностей с проверкой модератором · еженедельная автопроверка источников · Telegram-напоминания · режим для профориентатора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424"/>
                </a:solidFill>
                <a:latin typeface="Arial Black"/>
              </a:rPr>
              <a:t>Команда: Bolatbay Yersultan · Zharkynuly Eren · Kydyrkhan Olzhas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GitHub: [ссылка]   ·   Демо: [ссылка]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5440680"/>
            <a:ext cx="228600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