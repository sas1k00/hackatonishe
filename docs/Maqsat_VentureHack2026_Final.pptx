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Maqsat — по-казахски «цель». Мы помогаем пройти путь от «я где-то слышал о программе» до «заявка отправлена вовремя».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финала начинается ровно с этих трёх ситуаций. Наш продукт отвечает на каждую: подбор, проверка условий, план.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Верхние цифры — наш собственный сбор данных (экран «Откуда данные»). Нижние — опрос учеников: 24 ответа, 2 исключены (бессмысленные), выборка смещена к 12 классу и студентам — так и говорите.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Интервью: школьный профориентатор, завуч, учитель английского, ученик, подававший на FLEX, родитель. Полные ответы — docs/research-plan.md. Подчеркните: изменения сделаны в ту же ночь.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Ключевое отличие от каналов с объявлениями: мы не просто показываем возможность, а говорим, подходит ли она именно тебе и чего не хватает.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Живое демо: главная → «Посмотреть на примере». Показать карточку ML School (дедлайн 8 октября), Yale (почти: английский), НУ (позже, 2028).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Живое демо: добавить 2–3 возможности → «Мой план» → показать предупреждение о двух дедлайнах → нажать «Добавить в календарь». Запасной путь: #demo-plan.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прямой ответ на принцип кейса «Evidence over assumptions»: мы показываем пользователю, насколько можно доверять каждому факту.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говорите, что аналогов нет: жюри знает Telegram-каналы и агрегаторы. Наше отличие — персональная проверка условий и план.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280160" y="228599"/>
            <a:ext cx="182880" cy="182880"/>
          </a:xfrm>
          <a:prstGeom prst="ellipse">
            <a:avLst/>
          </a:prstGeom>
          <a:solidFill>
            <a:srgbClr val="2F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868680"/>
            <a:ext cx="182880" cy="182880"/>
          </a:xfrm>
          <a:prstGeom prst="ellipse">
            <a:avLst/>
          </a:prstGeom>
          <a:solidFill>
            <a:srgbClr val="2F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108960" y="822960"/>
            <a:ext cx="182880" cy="182880"/>
          </a:xfrm>
          <a:prstGeom prst="ellipse">
            <a:avLst/>
          </a:prstGeom>
          <a:solidFill>
            <a:srgbClr val="2F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49624" y="374904"/>
            <a:ext cx="164592" cy="164592"/>
          </a:xfrm>
          <a:prstGeom prst="ellipse">
            <a:avLst/>
          </a:prstGeom>
          <a:solidFill>
            <a:srgbClr val="2F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08615" y="384048"/>
            <a:ext cx="384048" cy="38404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89265" y="464698"/>
            <a:ext cx="222747" cy="222747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2234" y="537667"/>
            <a:ext cx="76809" cy="7680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4103" y="4023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Maqsat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1645919"/>
            <a:ext cx="4206240" cy="4206240"/>
          </a:xfrm>
          <a:prstGeom prst="ellipse">
            <a:avLst/>
          </a:prstGeom>
          <a:solidFill>
            <a:srgbClr val="ECEEFC"/>
          </a:solidFill>
          <a:ln w="38100">
            <a:solidFill>
              <a:srgbClr val="C3C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8720" y="2240279"/>
            <a:ext cx="3017520" cy="3017520"/>
          </a:xfrm>
          <a:prstGeom prst="ellipse">
            <a:avLst/>
          </a:prstGeom>
          <a:solidFill>
            <a:srgbClr val="C3C9F4"/>
          </a:solidFill>
          <a:ln w="38100">
            <a:solidFill>
              <a:srgbClr val="6E7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83080" y="2834639"/>
            <a:ext cx="1828800" cy="1828800"/>
          </a:xfrm>
          <a:prstGeom prst="ellipse">
            <a:avLst/>
          </a:prstGeom>
          <a:solidFill>
            <a:srgbClr val="2F3FBF"/>
          </a:solidFill>
          <a:ln w="381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86000" y="3337559"/>
            <a:ext cx="822960" cy="82296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100">
                <a:solidFill>
                  <a:srgbClr val="111424"/>
                </a:solidFill>
                <a:latin typeface="Arial Black"/>
              </a:rPr>
              <a:t>ЦЕЛЬ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73735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F3FBF"/>
                </a:solidFill>
                <a:latin typeface="Arial Black"/>
              </a:rPr>
              <a:t>ВОЗМОЖНОСТЬ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331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247A"/>
                </a:solidFill>
                <a:latin typeface="Arial Black"/>
              </a:rPr>
              <a:t>ПЛАН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97179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 Black"/>
              </a:rPr>
              <a:t>ШАГИ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78308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0" i="0">
                <a:solidFill>
                  <a:srgbClr val="2F3FBF"/>
                </a:solidFill>
                <a:latin typeface="Arial Black"/>
              </a:rPr>
              <a:t>MAQSAT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7889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11424"/>
                </a:solidFill>
                <a:latin typeface="Arial Black"/>
              </a:rPr>
              <a:t>ОТ ВОЗМОЖНОСТИ К РЕЗУЛЬТАТУ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40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F3FBF"/>
                </a:solidFill>
                <a:latin typeface="Arial Black"/>
              </a:rPr>
              <a:t>Подбор образовательных возможностей и план назад от дедлайна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25196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4F62"/>
                </a:solidFill>
                <a:latin typeface="Arial Black"/>
              </a:rPr>
              <a:t>Олимпиады, стипендии, обменные и летние программы, бесплатные IT-школы — кто подходит, чего не хватает и что делать на этой неделе. Мақсат (каз.) — цель.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5349240"/>
            <a:ext cx="3017520" cy="457200"/>
          </a:xfrm>
          <a:prstGeom prst="rect">
            <a:avLst/>
          </a:prstGeom>
          <a:solidFill>
            <a:srgbClr val="2F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Arial Black"/>
              </a:rPr>
              <a:t>Финал · EduTech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8255" y="63550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094"/>
                </a:solidFill>
                <a:latin typeface="Arial Black"/>
              </a:rPr>
              <a:t>VentureHack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08615" y="384048"/>
            <a:ext cx="384048" cy="38404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89265" y="464698"/>
            <a:ext cx="222747" cy="222747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2234" y="537667"/>
            <a:ext cx="76809" cy="7680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4023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Maqsat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F3FBF"/>
                </a:solidFill>
                <a:latin typeface="Arial Black"/>
              </a:rPr>
              <a:t>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11424"/>
                </a:solidFill>
                <a:latin typeface="Arial Black"/>
              </a:rPr>
              <a:t>ВОЗМОЖНОСТИ ЕСТЬ — ДОЙТИ ДО НИХ СЛОЖНО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3474720" cy="3063240"/>
          </a:xfrm>
          <a:prstGeom prst="rect">
            <a:avLst/>
          </a:prstGeom>
          <a:solidFill>
            <a:srgbClr val="F6F7FB"/>
          </a:solidFill>
          <a:ln w="12700">
            <a:solidFill>
              <a:srgbClr val="DA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377440"/>
            <a:ext cx="731520" cy="731520"/>
          </a:xfrm>
          <a:prstGeom prst="ellipse">
            <a:avLst/>
          </a:prstGeom>
          <a:solidFill>
            <a:srgbClr val="B3312F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80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B3312F"/>
                </a:solidFill>
                <a:latin typeface="Arial Black"/>
              </a:rPr>
              <a:t>Узнал после дедлайна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2971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F62"/>
                </a:solidFill>
                <a:latin typeface="Arial Black"/>
              </a:rPr>
              <a:t>Информация разбросана по десяткам сайтов и каналов. О конкурсе узнают, когда регистрация уже закрыта.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743200"/>
            <a:ext cx="3474720" cy="3063240"/>
          </a:xfrm>
          <a:prstGeom prst="rect">
            <a:avLst/>
          </a:prstGeom>
          <a:solidFill>
            <a:srgbClr val="F6F7FB"/>
          </a:solidFill>
          <a:ln w="12700">
            <a:solidFill>
              <a:srgbClr val="DA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81727" y="2377440"/>
            <a:ext cx="731520" cy="731520"/>
          </a:xfrm>
          <a:prstGeom prst="ellipse">
            <a:avLst/>
          </a:prstGeom>
          <a:solidFill>
            <a:srgbClr val="9A520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80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3756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9A5200"/>
                </a:solidFill>
                <a:latin typeface="Arial Black"/>
              </a:rPr>
              <a:t>Не понял, подходит 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069080"/>
            <a:ext cx="2971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F62"/>
                </a:solidFill>
                <a:latin typeface="Arial Black"/>
              </a:rPr>
              <a:t>«Sophomore or junior (or equivalent)», «16–17 лет на 1 сентября года поступления», «IELTS 6.0, Writing 6.0» — условия написаны не для школьника.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9" y="2743200"/>
            <a:ext cx="3474720" cy="3063240"/>
          </a:xfrm>
          <a:prstGeom prst="rect">
            <a:avLst/>
          </a:prstGeom>
          <a:solidFill>
            <a:srgbClr val="F6F7FB"/>
          </a:solidFill>
          <a:ln w="12700">
            <a:solidFill>
              <a:srgbClr val="DA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7" y="2377440"/>
            <a:ext cx="731520" cy="731520"/>
          </a:xfrm>
          <a:prstGeom prst="ellipse">
            <a:avLst/>
          </a:prstGeom>
          <a:solidFill>
            <a:srgbClr val="5B48C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80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33756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B48C9"/>
                </a:solidFill>
                <a:latin typeface="Arial Black"/>
              </a:rPr>
              <a:t>Начал слишком поздно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069080"/>
            <a:ext cx="2971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F62"/>
                </a:solidFill>
                <a:latin typeface="Arial Black"/>
              </a:rPr>
              <a:t>Сертификат IELTS, рекомендации и эссе требуют недель. За 2–3 недели до дедлайна часть шагов уже не успеть.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094"/>
                </a:solidFill>
                <a:latin typeface="Arial Black"/>
              </a:rPr>
              <a:t>Все три ситуации — из текста финального кейса. Ниже — что мы увидели сами, когда собирали данные.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8255" y="63550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094"/>
                </a:solidFill>
                <a:latin typeface="Arial Black"/>
              </a:rPr>
              <a:t>VentureHack 2026  ·  Финал  ·  EduTech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08615" y="384048"/>
            <a:ext cx="384048" cy="38404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89265" y="464698"/>
            <a:ext cx="222747" cy="222747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2234" y="537667"/>
            <a:ext cx="76809" cy="7680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4023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Maqsat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F3FBF"/>
                </a:solidFill>
                <a:latin typeface="Arial Black"/>
              </a:rPr>
              <a:t>ИССЛЕДОВАНИЕ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11424"/>
                </a:solidFill>
                <a:latin typeface="Arial Black"/>
              </a:rPr>
              <a:t>«НЕ ЗНАЛ ВОВРЕМЯ» — БАРЬЕР №1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1828800" cy="182880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0C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4400">
                <a:solidFill>
                  <a:srgbClr val="0C7A5C"/>
                </a:solidFill>
                <a:latin typeface="Arial Blac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3434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A4F62"/>
                </a:solidFill>
                <a:latin typeface="Arial Black"/>
              </a:rPr>
              <a:t>из 13 — даты нового
цикла опубликованы</a:t>
            </a:r>
          </a:p>
        </p:txBody>
      </p:sp>
      <p:sp>
        <p:nvSpPr>
          <p:cNvPr id="10" name="Oval 9"/>
          <p:cNvSpPr/>
          <p:nvPr/>
        </p:nvSpPr>
        <p:spPr>
          <a:xfrm>
            <a:off x="3246120" y="2331720"/>
            <a:ext cx="1828800" cy="182880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9A5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4400">
                <a:solidFill>
                  <a:srgbClr val="9A5200"/>
                </a:solidFill>
                <a:latin typeface="Arial Black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3434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A4F62"/>
                </a:solidFill>
                <a:latin typeface="Arial Black"/>
              </a:rPr>
              <a:t>из 13 — только оценка
по прошлому году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2331720"/>
            <a:ext cx="1828800" cy="182880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B331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4400">
                <a:solidFill>
                  <a:srgbClr val="B3312F"/>
                </a:solidFill>
                <a:latin typeface="Arial Blac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43434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A4F62"/>
                </a:solidFill>
                <a:latin typeface="Arial Black"/>
              </a:rPr>
              <a:t>из 13 — даты нет
вообще</a:t>
            </a:r>
          </a:p>
        </p:txBody>
      </p:sp>
      <p:sp>
        <p:nvSpPr>
          <p:cNvPr id="14" name="Oval 13"/>
          <p:cNvSpPr/>
          <p:nvPr/>
        </p:nvSpPr>
        <p:spPr>
          <a:xfrm>
            <a:off x="8641080" y="2331720"/>
            <a:ext cx="1828800" cy="182880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4400">
                <a:solidFill>
                  <a:srgbClr val="2F3FBF"/>
                </a:solidFill>
                <a:latin typeface="Arial Black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3434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A4F62"/>
                </a:solidFill>
                <a:latin typeface="Arial Black"/>
              </a:rPr>
              <a:t>из 13 — набор
идёт постоянно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11424"/>
                </a:solidFill>
                <a:latin typeface="Arial Black"/>
              </a:rPr>
              <a:t>Мы сами собрали 13 возможностей для школьников Казахстана по официальным сайтам и открытым источникам 26.09.2026.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440680"/>
            <a:ext cx="108813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F3FBF"/>
                </a:solidFill>
                <a:latin typeface="Arial Black"/>
              </a:rPr>
              <a:t>Опрос учеников</a:t>
            </a:r>
          </a:p>
          <a:p>
            <a:pPr algn="l"/>
            <a:r>
              <a:rPr sz="1000" b="0" i="0">
                <a:solidFill>
                  <a:srgbClr val="7A8094"/>
                </a:solidFill>
                <a:latin typeface="Arial Black"/>
              </a:rPr>
              <a:t>n = 22, 26.09.2026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48640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2F3FBF"/>
                </a:solidFill>
                <a:latin typeface="Arial Black"/>
              </a:rPr>
              <a:t>59%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5943600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F62"/>
                </a:solidFill>
                <a:latin typeface="Arial Black"/>
              </a:rPr>
              <a:t>главный барьер —
«не знал вовремя»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548640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2F3FBF"/>
                </a:solidFill>
                <a:latin typeface="Arial Black"/>
              </a:rPr>
              <a:t>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5943600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F62"/>
                </a:solidFill>
                <a:latin typeface="Arial Black"/>
              </a:rPr>
              <a:t>узнают на сайтах
организаторов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1464" y="548640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2F3FBF"/>
                </a:solidFill>
                <a:latin typeface="Arial Black"/>
              </a:rPr>
              <a:t>41%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5943600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F62"/>
                </a:solidFill>
                <a:latin typeface="Arial Black"/>
              </a:rPr>
              <a:t>не всегда понимают,
подходят ли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548640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2F3FBF"/>
                </a:solidFill>
                <a:latin typeface="Arial Black"/>
              </a:rPr>
              <a:t>73%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5943600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F62"/>
                </a:solidFill>
                <a:latin typeface="Arial Black"/>
              </a:rPr>
              <a:t>воспользовались бы
(да + возможно)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08615" y="384048"/>
            <a:ext cx="384048" cy="38404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89265" y="464698"/>
            <a:ext cx="222747" cy="222747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2234" y="537667"/>
            <a:ext cx="76809" cy="7680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4023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Maqsat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F3FBF"/>
                </a:solidFill>
                <a:latin typeface="Arial Black"/>
              </a:rPr>
              <a:t>ИНТЕРВЬЮ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11424"/>
                </a:solidFill>
                <a:latin typeface="Arial Black"/>
              </a:rPr>
              <a:t>5 ЧЕЛОВЕК — И ЧТО МЫ ИЗМЕНИЛИ ЗА НОЧЬ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5760720" cy="10515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41448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11424"/>
                </a:solidFill>
                <a:latin typeface="Arial Black"/>
              </a:rPr>
              <a:t>«Иногда ученик узнаёт о программе за несколько дней до дедлайна и не успевает получить рекомендацию»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81527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F3FBF"/>
                </a:solidFill>
                <a:latin typeface="Arial Black"/>
              </a:rPr>
              <a:t>— школьный профориентатор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39"/>
            <a:ext cx="5760720" cy="10515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30168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11424"/>
                </a:solidFill>
                <a:latin typeface="Arial Black"/>
              </a:rPr>
              <a:t>«Рекомендации и документы требуют участия школы — их нельзя подготовить в последний день»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7024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F3FBF"/>
                </a:solidFill>
                <a:latin typeface="Arial Black"/>
              </a:rPr>
              <a:t>— заместитель директора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09160"/>
            <a:ext cx="5760720" cy="10515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18888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11424"/>
                </a:solidFill>
                <a:latin typeface="Arial Black"/>
              </a:rPr>
              <a:t>«Не доверяю формулировке «полная стипендия» без ссылки на условия»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45896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F3FBF"/>
                </a:solidFill>
                <a:latin typeface="Arial Black"/>
              </a:rPr>
              <a:t>— родитель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240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094"/>
                </a:solidFill>
                <a:latin typeface="Arial Black"/>
              </a:rPr>
              <a:t>ДОБАВИЛИ ПО ПРОСЬБАМ</a:t>
            </a:r>
          </a:p>
        </p:txBody>
      </p:sp>
      <p:sp>
        <p:nvSpPr>
          <p:cNvPr id="18" name="Oval 17"/>
          <p:cNvSpPr/>
          <p:nvPr/>
        </p:nvSpPr>
        <p:spPr>
          <a:xfrm>
            <a:off x="6757416" y="2642616"/>
            <a:ext cx="292608" cy="29260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18863" y="2704063"/>
            <a:ext cx="169712" cy="169712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74459" y="2759659"/>
            <a:ext cx="58521" cy="58521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6060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🏫 через школу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95351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шаги с рекомендациями и документами отмечены в плане</a:t>
            </a:r>
          </a:p>
        </p:txBody>
      </p:sp>
      <p:sp>
        <p:nvSpPr>
          <p:cNvPr id="23" name="Oval 22"/>
          <p:cNvSpPr/>
          <p:nvPr/>
        </p:nvSpPr>
        <p:spPr>
          <a:xfrm>
            <a:off x="6757416" y="3465576"/>
            <a:ext cx="292608" cy="29260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18863" y="3527023"/>
            <a:ext cx="169712" cy="169712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74459" y="3582619"/>
            <a:ext cx="58521" cy="58521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34290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Заявка отправлена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77647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закрывает подготовку, этап отбора остаётся</a:t>
            </a:r>
          </a:p>
        </p:txBody>
      </p:sp>
      <p:sp>
        <p:nvSpPr>
          <p:cNvPr id="28" name="Oval 27"/>
          <p:cNvSpPr/>
          <p:nvPr/>
        </p:nvSpPr>
        <p:spPr>
          <a:xfrm>
            <a:off x="6757416" y="4288536"/>
            <a:ext cx="292608" cy="29260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18863" y="4349983"/>
            <a:ext cx="169712" cy="169712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74459" y="4405579"/>
            <a:ext cx="58521" cy="58521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42519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Свои задачи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59943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в плане и календаре, даже без дедлайна</a:t>
            </a:r>
          </a:p>
        </p:txBody>
      </p:sp>
      <p:sp>
        <p:nvSpPr>
          <p:cNvPr id="33" name="Oval 32"/>
          <p:cNvSpPr/>
          <p:nvPr/>
        </p:nvSpPr>
        <p:spPr>
          <a:xfrm>
            <a:off x="6757416" y="5111496"/>
            <a:ext cx="292608" cy="29260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18863" y="5172943"/>
            <a:ext cx="169712" cy="169712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4459" y="5228539"/>
            <a:ext cx="58521" cy="58521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50749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Стоимость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42239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в каждой карточке; «бесплатно» — только если подтверждено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094"/>
                </a:solidFill>
                <a:latin typeface="Arial Black"/>
              </a:rPr>
              <a:t>Все пятеро доверяют только данным со ссылкой на источник и датой проверки — это уже было в продукте. «Шансы поступления» и шаблонные эссе нам прямо не советовали делать.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08615" y="384048"/>
            <a:ext cx="384048" cy="38404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89265" y="464698"/>
            <a:ext cx="222747" cy="222747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2234" y="537667"/>
            <a:ext cx="76809" cy="7680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4023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Maqsat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F3FBF"/>
                </a:solidFill>
                <a:latin typeface="Arial Black"/>
              </a:rPr>
              <a:t>РЕШЕНИЕ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11424"/>
                </a:solidFill>
                <a:latin typeface="Arial Black"/>
              </a:rPr>
              <a:t>ПРОФИЛЬ → ПОДБОР → ПЛАН → КАЛЕНДАРЬ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2743200"/>
            <a:ext cx="1828800" cy="0"/>
          </a:xfrm>
          <a:prstGeom prst="line">
            <a:avLst/>
          </a:prstGeom>
          <a:ln w="25400">
            <a:solidFill>
              <a:srgbClr val="C3C9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00100" y="2308860"/>
            <a:ext cx="868680" cy="868680"/>
          </a:xfrm>
          <a:prstGeom prst="ellipse">
            <a:avLst/>
          </a:prstGeom>
          <a:solidFill>
            <a:srgbClr val="2F3FBF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220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F3FBF"/>
                </a:solidFill>
                <a:latin typeface="Arial Black"/>
              </a:rPr>
              <a:t>Профиль за минуту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2514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F62"/>
                </a:solidFill>
                <a:latin typeface="Arial Black"/>
              </a:rPr>
              <a:t>Возраст, класс, английский или IELTS, средний балл, город, интересы. Без регистрации.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26279" y="2743200"/>
            <a:ext cx="1828800" cy="0"/>
          </a:xfrm>
          <a:prstGeom prst="line">
            <a:avLst/>
          </a:prstGeom>
          <a:ln w="25400">
            <a:solidFill>
              <a:srgbClr val="C3C9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89019" y="2308860"/>
            <a:ext cx="868680" cy="868680"/>
          </a:xfrm>
          <a:prstGeom prst="ellipse">
            <a:avLst/>
          </a:prstGeom>
          <a:solidFill>
            <a:srgbClr val="2F3FBF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220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34290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F3FBF"/>
                </a:solidFill>
                <a:latin typeface="Arial Black"/>
              </a:rPr>
              <a:t>Подбор с проверкой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4160520"/>
            <a:ext cx="2514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F62"/>
                </a:solidFill>
                <a:latin typeface="Arial Black"/>
              </a:rPr>
              <a:t>Для каждой возможности: подходишь, почти (и чего не хватает) или станет доступно позже.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0" y="2743200"/>
            <a:ext cx="1828800" cy="0"/>
          </a:xfrm>
          <a:prstGeom prst="line">
            <a:avLst/>
          </a:prstGeom>
          <a:ln w="25400">
            <a:solidFill>
              <a:srgbClr val="C3C9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77940" y="2308860"/>
            <a:ext cx="868680" cy="868680"/>
          </a:xfrm>
          <a:prstGeom prst="ellipse">
            <a:avLst/>
          </a:prstGeom>
          <a:solidFill>
            <a:srgbClr val="2F3FBF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220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290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F3FBF"/>
                </a:solidFill>
                <a:latin typeface="Arial Black"/>
              </a:rPr>
              <a:t>План назад от дедлайна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60520"/>
            <a:ext cx="2514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F62"/>
                </a:solidFill>
                <a:latin typeface="Arial Black"/>
              </a:rPr>
              <a:t>Когда записаться на IELTS, просить рекомендации, писать эссе. Конфликты дедлайнов — сразу видны.</a:t>
            </a:r>
          </a:p>
        </p:txBody>
      </p:sp>
      <p:sp>
        <p:nvSpPr>
          <p:cNvPr id="20" name="Oval 19"/>
          <p:cNvSpPr/>
          <p:nvPr/>
        </p:nvSpPr>
        <p:spPr>
          <a:xfrm>
            <a:off x="9166859" y="2308860"/>
            <a:ext cx="868680" cy="868680"/>
          </a:xfrm>
          <a:prstGeom prst="ellipse">
            <a:avLst/>
          </a:prstGeom>
          <a:solidFill>
            <a:srgbClr val="F2A90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2200">
                <a:solidFill>
                  <a:srgbClr val="111424"/>
                </a:solidFill>
                <a:latin typeface="Arial Black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34290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F3FBF"/>
                </a:solidFill>
                <a:latin typeface="Arial Black"/>
              </a:rPr>
              <a:t>Календарь и прогресс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4160520"/>
            <a:ext cx="2514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F62"/>
                </a:solidFill>
                <a:latin typeface="Arial Black"/>
              </a:rPr>
              <a:t>Все шаги — в календарь телефона с напоминаниями. «Сделай сегодня» и прогресс по целям.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5806440"/>
            <a:ext cx="7680960" cy="457200"/>
          </a:xfrm>
          <a:prstGeom prst="rect">
            <a:avLst/>
          </a:prstGeom>
          <a:solidFill>
            <a:srgbClr val="2F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Arial Black"/>
              </a:rPr>
              <a:t>Работает на любом телефоне и без интернета — без установки и регистрации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8255" y="63550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094"/>
                </a:solidFill>
                <a:latin typeface="Arial Black"/>
              </a:rPr>
              <a:t>VentureHack 2026  ·  Финал  ·  EduTech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08615" y="384048"/>
            <a:ext cx="384048" cy="38404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89265" y="464698"/>
            <a:ext cx="222747" cy="222747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2234" y="537667"/>
            <a:ext cx="76809" cy="7680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4023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Maqsat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F3FBF"/>
                </a:solidFill>
                <a:latin typeface="Arial Black"/>
              </a:rPr>
              <a:t>ПОДБОР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11424"/>
                </a:solidFill>
                <a:latin typeface="Arial Black"/>
              </a:rPr>
              <a:t>НЕ СПИСОК, А ПРОВЕРКА УСЛОВИЙ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0881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2377440" cy="749808"/>
          </a:xfrm>
          <a:prstGeom prst="rect">
            <a:avLst/>
          </a:prstGeom>
          <a:solidFill>
            <a:srgbClr val="DC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300">
                <a:solidFill>
                  <a:srgbClr val="0C7A5C"/>
                </a:solidFill>
                <a:latin typeface="Arial Black"/>
              </a:rPr>
              <a:t>✓ ПОДХОДИШЬ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468880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11424"/>
                </a:solidFill>
                <a:latin typeface="Arial Black"/>
              </a:rPr>
              <a:t>UWC для 10-классника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5059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Возраст считается на 1 сентября года поступления: будет 17 — подходит.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10881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2377440" cy="749808"/>
          </a:xfrm>
          <a:prstGeom prst="rect">
            <a:avLst/>
          </a:prstGeom>
          <a:solidFill>
            <a:srgbClr val="FD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300">
                <a:solidFill>
                  <a:srgbClr val="9A5200"/>
                </a:solidFill>
                <a:latin typeface="Arial Black"/>
              </a:rPr>
              <a:t>△ ПОЧТИ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337560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11424"/>
                </a:solidFill>
                <a:latin typeface="Arial Black"/>
              </a:rPr>
              <a:t>Yale Young Global Scholars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1927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Английский B1, ориентир — B2. План сам добавит шаги по языку.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10881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14800"/>
            <a:ext cx="2377440" cy="749808"/>
          </a:xfrm>
          <a:prstGeom prst="rect">
            <a:avLst/>
          </a:prstGeom>
          <a:solidFill>
            <a:srgbClr val="EB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300">
                <a:solidFill>
                  <a:srgbClr val="5B48C9"/>
                </a:solidFill>
                <a:latin typeface="Arial Black"/>
              </a:rPr>
              <a:t>⏳ ПОЗЖЕ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206240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11424"/>
                </a:solidFill>
                <a:latin typeface="Arial Black"/>
              </a:rPr>
              <a:t>Назарбаев Университет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8795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Сейчас 10 класс. Профиль «переводится» на год вперёд: станет доступно в 2028.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983479"/>
            <a:ext cx="10881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983479"/>
            <a:ext cx="2377440" cy="749808"/>
          </a:xfrm>
          <a:prstGeom prst="rect">
            <a:avLst/>
          </a:prstGeom>
          <a:solidFill>
            <a:srgbClr val="FBE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300">
                <a:solidFill>
                  <a:srgbClr val="B3312F"/>
                </a:solidFill>
                <a:latin typeface="Arial Black"/>
              </a:rPr>
              <a:t>✗ НЕ ПОДХОДИТ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5074919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11424"/>
                </a:solidFill>
                <a:latin typeface="Arial Black"/>
              </a:rPr>
              <a:t>UWC без гражданства РК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56631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Гражданство или ВНЖ — жёсткое условие; такие программы скрыты по умолчанию.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094"/>
                </a:solidFill>
                <a:latin typeface="Arial Black"/>
              </a:rPr>
              <a:t>Примеры — реальный результат приложения для демо-профиля: 10 класс, Алматы, английский B1.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19" y="182880"/>
            <a:ext cx="7863840" cy="7863840"/>
          </a:xfrm>
          <a:prstGeom prst="ellipse">
            <a:avLst/>
          </a:prstGeom>
          <a:solidFill>
            <a:srgbClr val="EC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08615" y="384048"/>
            <a:ext cx="384048" cy="38404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89265" y="464698"/>
            <a:ext cx="222747" cy="222747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2234" y="537667"/>
            <a:ext cx="76809" cy="7680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4103" y="4023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Maqsat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F3FBF"/>
                </a:solidFill>
                <a:latin typeface="Arial Black"/>
              </a:rPr>
              <a:t>ДЕМО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11424"/>
                </a:solidFill>
                <a:latin typeface="Arial Black"/>
              </a:rPr>
              <a:t>ВОЗМОЖНОСТИ ДЛЯ ТЕБЯ</a:t>
            </a:r>
          </a:p>
        </p:txBody>
      </p:sp>
      <p:pic>
        <p:nvPicPr>
          <p:cNvPr id="9" name="Picture 8" descr="matches.png"/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640080" y="2331720"/>
            <a:ext cx="6675120" cy="4171950"/>
          </a:xfrm>
          <a:prstGeom prst="rect">
            <a:avLst/>
          </a:prstGeom>
          <a:ln w="12700">
            <a:solidFill>
              <a:srgbClr val="DADEEC"/>
            </a:solidFill>
          </a:ln>
        </p:spPr>
      </p:pic>
      <p:sp>
        <p:nvSpPr>
          <p:cNvPr id="10" name="Oval 9"/>
          <p:cNvSpPr/>
          <p:nvPr/>
        </p:nvSpPr>
        <p:spPr>
          <a:xfrm>
            <a:off x="7799831" y="2313432"/>
            <a:ext cx="310896" cy="310896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5120" y="2378720"/>
            <a:ext cx="180319" cy="180319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24190" y="2437790"/>
            <a:ext cx="62179" cy="6217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F3FBF"/>
                </a:solidFill>
                <a:latin typeface="Arial Black"/>
              </a:rPr>
              <a:t>Статус и пробелы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подходишь / почти / позже — с объяснением по каждому условию</a:t>
            </a:r>
          </a:p>
        </p:txBody>
      </p:sp>
      <p:sp>
        <p:nvSpPr>
          <p:cNvPr id="15" name="Oval 14"/>
          <p:cNvSpPr/>
          <p:nvPr/>
        </p:nvSpPr>
        <p:spPr>
          <a:xfrm>
            <a:off x="7799831" y="3227832"/>
            <a:ext cx="310896" cy="310896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5120" y="3293120"/>
            <a:ext cx="180319" cy="180319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24190" y="3352190"/>
            <a:ext cx="62179" cy="6217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2004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F3FBF"/>
                </a:solidFill>
                <a:latin typeface="Arial Black"/>
              </a:rPr>
              <a:t>Дедлайн и отсчёт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566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«через 12 дней»; красным — если меньше 3 недель</a:t>
            </a:r>
          </a:p>
        </p:txBody>
      </p:sp>
      <p:sp>
        <p:nvSpPr>
          <p:cNvPr id="20" name="Oval 19"/>
          <p:cNvSpPr/>
          <p:nvPr/>
        </p:nvSpPr>
        <p:spPr>
          <a:xfrm>
            <a:off x="7799831" y="4142232"/>
            <a:ext cx="310896" cy="310896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5120" y="4207520"/>
            <a:ext cx="180319" cy="180319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24190" y="4266590"/>
            <a:ext cx="62179" cy="6217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1148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F3FBF"/>
                </a:solidFill>
                <a:latin typeface="Arial Black"/>
              </a:rPr>
              <a:t>Честная дата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4805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«ориентировочно» и на чём основана оценка</a:t>
            </a:r>
          </a:p>
        </p:txBody>
      </p:sp>
      <p:sp>
        <p:nvSpPr>
          <p:cNvPr id="25" name="Oval 24"/>
          <p:cNvSpPr/>
          <p:nvPr/>
        </p:nvSpPr>
        <p:spPr>
          <a:xfrm>
            <a:off x="7799831" y="5056632"/>
            <a:ext cx="310896" cy="310896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65120" y="5121920"/>
            <a:ext cx="180319" cy="180319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4190" y="5180990"/>
            <a:ext cx="62179" cy="6217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50292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F3FBF"/>
                </a:solidFill>
                <a:latin typeface="Arial Black"/>
              </a:rPr>
              <a:t>Источник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3949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ссылка на официальный сайт и дата проверки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5989320"/>
            <a:ext cx="3108960" cy="411480"/>
          </a:xfrm>
          <a:prstGeom prst="rect">
            <a:avLst/>
          </a:prstGeom>
          <a:solidFill>
            <a:srgbClr val="2F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Arial Black"/>
              </a:rPr>
              <a:t>Живое демо: #demo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0" y="182880"/>
            <a:ext cx="7863840" cy="7863840"/>
          </a:xfrm>
          <a:prstGeom prst="ellipse">
            <a:avLst/>
          </a:prstGeom>
          <a:solidFill>
            <a:srgbClr val="EC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384048" cy="38404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9290" y="464698"/>
            <a:ext cx="222747" cy="222747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2259" y="537667"/>
            <a:ext cx="76809" cy="7680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4023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Maqsat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F3FBF"/>
                </a:solidFill>
                <a:latin typeface="Arial Black"/>
              </a:rPr>
              <a:t>ПЛАН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11424"/>
                </a:solidFill>
                <a:latin typeface="Arial Black"/>
              </a:rPr>
              <a:t>НАЗАД ОТ ДЕДЛАЙНА</a:t>
            </a:r>
          </a:p>
        </p:txBody>
      </p:sp>
      <p:pic>
        <p:nvPicPr>
          <p:cNvPr id="9" name="Picture 8" descr="plan.png"/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4846320" y="1234440"/>
            <a:ext cx="6720840" cy="4200525"/>
          </a:xfrm>
          <a:prstGeom prst="rect">
            <a:avLst/>
          </a:prstGeom>
          <a:ln w="12700">
            <a:solidFill>
              <a:srgbClr val="DADEEC"/>
            </a:solidFill>
          </a:ln>
        </p:spPr>
      </p:pic>
      <p:sp>
        <p:nvSpPr>
          <p:cNvPr id="10" name="Oval 9"/>
          <p:cNvSpPr/>
          <p:nvPr/>
        </p:nvSpPr>
        <p:spPr>
          <a:xfrm>
            <a:off x="640080" y="2542032"/>
            <a:ext cx="310896" cy="310896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5368" y="2607320"/>
            <a:ext cx="180319" cy="180319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4438" y="2666390"/>
            <a:ext cx="62179" cy="6217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5146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F3FBF"/>
                </a:solidFill>
                <a:latin typeface="Arial Black"/>
              </a:rPr>
              <a:t>Сделай сегодня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62072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один следующий шаг, а не список на полгода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74720"/>
            <a:ext cx="310896" cy="310896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5368" y="3540008"/>
            <a:ext cx="180319" cy="180319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4438" y="3599078"/>
            <a:ext cx="62179" cy="6217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44728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F3FBF"/>
                </a:solidFill>
                <a:latin typeface="Arial Black"/>
              </a:rPr>
              <a:t>Конфликт дедлайнов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9476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UWC 5 января и Yale 6 января — видно заранее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407408"/>
            <a:ext cx="310896" cy="310896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5368" y="4472696"/>
            <a:ext cx="180319" cy="180319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4438" y="4531766"/>
            <a:ext cx="62179" cy="6217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37997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F3FBF"/>
                </a:solidFill>
                <a:latin typeface="Arial Black"/>
              </a:rPr>
              <a:t>Сжатый график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72744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опоздал с началом — шаги сжимаются, есть более поздний раунд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340096"/>
            <a:ext cx="310896" cy="310896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5368" y="5405384"/>
            <a:ext cx="180319" cy="180319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4438" y="5464454"/>
            <a:ext cx="62179" cy="6217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312664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F3FBF"/>
                </a:solidFill>
                <a:latin typeface="Arial Black"/>
              </a:rPr>
              <a:t>Календарь и печать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660136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.ics с напоминаниями; версия для родителей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08615" y="384048"/>
            <a:ext cx="384048" cy="38404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89265" y="464698"/>
            <a:ext cx="222747" cy="222747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2234" y="537667"/>
            <a:ext cx="76809" cy="7680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4023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Maqsat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F3FBF"/>
                </a:solidFill>
                <a:latin typeface="Arial Black"/>
              </a:rPr>
              <a:t>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11424"/>
                </a:solidFill>
                <a:latin typeface="Arial Black"/>
              </a:rPr>
              <a:t>МЫ НЕ ПРИДУМЫВАЕМ ДАТЫ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2834640" cy="658368"/>
          </a:xfrm>
          <a:prstGeom prst="rect">
            <a:avLst/>
          </a:prstGeom>
          <a:solidFill>
            <a:srgbClr val="DCF2EA"/>
          </a:solidFill>
          <a:ln w="19050">
            <a:solidFill>
              <a:srgbClr val="0C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00">
                <a:solidFill>
                  <a:srgbClr val="0C7A5C"/>
                </a:solidFill>
                <a:latin typeface="Arial Black"/>
              </a:rPr>
              <a:t>без пометки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46888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11424"/>
                </a:solidFill>
                <a:latin typeface="Arial Black"/>
              </a:rPr>
              <a:t>Сверено с официальным сайтом организатора 26.09.2026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2834640" cy="658368"/>
          </a:xfrm>
          <a:prstGeom prst="rect">
            <a:avLst/>
          </a:prstGeom>
          <a:solidFill>
            <a:srgbClr val="FDECD6"/>
          </a:solidFill>
          <a:ln w="19050">
            <a:solidFill>
              <a:srgbClr val="9A5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00">
                <a:solidFill>
                  <a:srgbClr val="9A5200"/>
                </a:solidFill>
                <a:latin typeface="Arial Black"/>
              </a:rPr>
              <a:t>УТОЧНИТЕ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29184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11424"/>
                </a:solidFill>
                <a:latin typeface="Arial Black"/>
              </a:rPr>
              <a:t>По открытым источникам или СМИ — проверьте перед подачей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23360"/>
            <a:ext cx="2834640" cy="658368"/>
          </a:xfrm>
          <a:prstGeom prst="rect">
            <a:avLst/>
          </a:prstGeom>
          <a:solidFill>
            <a:srgbClr val="EBE7FB"/>
          </a:solidFill>
          <a:ln w="19050">
            <a:solidFill>
              <a:srgbClr val="5B4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00">
                <a:solidFill>
                  <a:srgbClr val="5B48C9"/>
                </a:solidFill>
                <a:latin typeface="Arial Black"/>
              </a:rPr>
              <a:t>НАША ОЦЕНКА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411480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11424"/>
                </a:solidFill>
                <a:latin typeface="Arial Black"/>
              </a:rPr>
              <a:t>Организатор не называет значение (например, уровень английского)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46320"/>
            <a:ext cx="2834640" cy="658368"/>
          </a:xfrm>
          <a:prstGeom prst="rect">
            <a:avLst/>
          </a:prstGeom>
          <a:solidFill>
            <a:srgbClr val="FFF1D6"/>
          </a:solidFill>
          <a:ln w="19050">
            <a:solidFill>
              <a:srgbClr val="B8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00">
                <a:solidFill>
                  <a:srgbClr val="B87700"/>
                </a:solidFill>
                <a:latin typeface="Arial Black"/>
              </a:rPr>
              <a:t>ОРИЕНТИРОВОЧНО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93776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11424"/>
                </a:solidFill>
                <a:latin typeface="Arial Black"/>
              </a:rPr>
              <a:t>Срок нового цикла не объявлен — дата по прошлому циклу и её основание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solidFill>
            <a:srgbClr val="2F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Arial Black"/>
              </a:rPr>
              <a:t>Срок не опубликован? Не угадываем — пользователь указывает дату сам, когда её объявят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08615" y="384048"/>
            <a:ext cx="384048" cy="38404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89265" y="464698"/>
            <a:ext cx="222747" cy="222747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2234" y="537667"/>
            <a:ext cx="76809" cy="7680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4023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Maqsat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F3FBF"/>
                </a:solidFill>
                <a:latin typeface="Arial Black"/>
              </a:rPr>
              <a:t>КОНКУРЕНТЫ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11424"/>
                </a:solidFill>
                <a:latin typeface="Arial Black"/>
              </a:rPr>
              <a:t>ЧЕМ МЫ ОТЛИЧАЕМСЯ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1945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094"/>
                </a:solidFill>
                <a:latin typeface="Arial Black"/>
              </a:rPr>
              <a:t>ЧТО ЕСТЬ СЕЙЧАС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10881360" cy="621792"/>
          </a:xfrm>
          <a:prstGeom prst="rect">
            <a:avLst/>
          </a:prstGeom>
          <a:solidFill>
            <a:srgbClr val="F6F7FB"/>
          </a:solidFill>
          <a:ln w="12700">
            <a:solidFill>
              <a:srgbClr val="DA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11424"/>
                </a:solidFill>
                <a:latin typeface="Arial Black"/>
              </a:rPr>
              <a:t>Telegram-каналы с объявлениями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569464"/>
            <a:ext cx="6492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Лента постов: быстро, но без проверки условий и без плана; старое уходит вниз.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27832"/>
            <a:ext cx="10881360" cy="621792"/>
          </a:xfrm>
          <a:prstGeom prst="rect">
            <a:avLst/>
          </a:prstGeom>
          <a:solidFill>
            <a:srgbClr val="F6F7FB"/>
          </a:solidFill>
          <a:ln w="12700">
            <a:solidFill>
              <a:srgbClr val="DA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00984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11424"/>
                </a:solidFill>
                <a:latin typeface="Arial Black"/>
              </a:rPr>
              <a:t>Сайты-агрегаторы возможностей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282696"/>
            <a:ext cx="6492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Большие каталоги на английском; фильтры по стране и типу, но не по твоему профилю.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41064"/>
            <a:ext cx="10881360" cy="621792"/>
          </a:xfrm>
          <a:prstGeom prst="rect">
            <a:avLst/>
          </a:prstGeom>
          <a:solidFill>
            <a:srgbClr val="F6F7FB"/>
          </a:solidFill>
          <a:ln w="12700">
            <a:solidFill>
              <a:srgbClr val="DA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14216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11424"/>
                </a:solidFill>
                <a:latin typeface="Arial Black"/>
              </a:rPr>
              <a:t>Официальные сайты программ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995928"/>
            <a:ext cx="6492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Точные условия, но у каждой программы свой сайт, свой язык и свой календарь.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54296"/>
            <a:ext cx="10881360" cy="621792"/>
          </a:xfrm>
          <a:prstGeom prst="rect">
            <a:avLst/>
          </a:prstGeom>
          <a:solidFill>
            <a:srgbClr val="F6F7FB"/>
          </a:solidFill>
          <a:ln w="12700">
            <a:solidFill>
              <a:srgbClr val="DA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11424"/>
                </a:solidFill>
                <a:latin typeface="Arial Black"/>
              </a:rPr>
              <a:t>Школьный учитель / профориентатор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709159"/>
            <a:ext cx="6492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Знает учеников, но не успевает следить за десятками программ и сроков.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solidFill>
            <a:srgbClr val="2F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Arial Black"/>
              </a:rPr>
              <a:t>Maqsat: проверка условий под твой профиль + план назад от дедлайна + календарь + честные данные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08615" y="384048"/>
            <a:ext cx="384048" cy="38404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89265" y="464698"/>
            <a:ext cx="222747" cy="222747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2234" y="537667"/>
            <a:ext cx="76809" cy="7680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4103" y="4023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Maqsat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F3FBF"/>
                </a:solidFill>
                <a:latin typeface="Arial Black"/>
              </a:rPr>
              <a:t>ТЕХНИКА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11424"/>
                </a:solidFill>
                <a:latin typeface="Arial Black"/>
              </a:rPr>
              <a:t>ПРОСТО, НАДЁЖНО, ДОСТУПНО</a:t>
            </a:r>
          </a:p>
        </p:txBody>
      </p:sp>
      <p:pic>
        <p:nvPicPr>
          <p:cNvPr id="8" name="Picture 7" descr="mobile.png"/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9098280" y="1097280"/>
            <a:ext cx="2423160" cy="4710623"/>
          </a:xfrm>
          <a:prstGeom prst="rect">
            <a:avLst/>
          </a:prstGeom>
          <a:ln w="12700">
            <a:solidFill>
              <a:srgbClr val="DADEEC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40080" y="2331720"/>
            <a:ext cx="4023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F3FBF"/>
                </a:solidFill>
                <a:latin typeface="Arial Black"/>
              </a:rPr>
              <a:t>Архитектура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4A4F62"/>
                </a:solidFill>
                <a:latin typeface="Arial Black"/>
              </a:rPr>
              <a:t>HTML/CSS/JS без зависимостей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4A4F62"/>
                </a:solidFill>
                <a:latin typeface="Arial Black"/>
              </a:rPr>
              <a:t>Данные отделены от движка: новая возможность — одна запись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4A4F62"/>
                </a:solidFill>
                <a:latin typeface="Arial Black"/>
              </a:rPr>
              <a:t>Календарь по стандарту iCalendar (RFC 5545)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4A4F62"/>
                </a:solidFill>
                <a:latin typeface="Arial Black"/>
              </a:rPr>
              <a:t>37 автотестов: база, условия, план, календарь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2331720"/>
            <a:ext cx="4023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6032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F3FBF"/>
                </a:solidFill>
                <a:latin typeface="Arial Black"/>
              </a:rPr>
              <a:t>Доступность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10896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4A4F62"/>
                </a:solidFill>
                <a:latin typeface="Arial Black"/>
              </a:rPr>
              <a:t>Без регистрации; данные — только на устройстве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4A4F62"/>
                </a:solidFill>
                <a:latin typeface="Arial Black"/>
              </a:rPr>
              <a:t>Работает офлайн (PWA), ставится на телефон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4A4F62"/>
                </a:solidFill>
                <a:latin typeface="Arial Black"/>
              </a:rPr>
              <a:t>Клавиатура, экранные дикторы, крупные кнопки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200" b="0" i="0">
                <a:solidFill>
                  <a:srgbClr val="4A4F62"/>
                </a:solidFill>
                <a:latin typeface="Arial Black"/>
              </a:rPr>
              <a:t>Тёмная тема, печать для родителей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8255" y="63550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A8094"/>
                </a:solidFill>
                <a:latin typeface="Arial Black"/>
              </a:rPr>
              <a:t>VentureHack 2026  ·  Финал  ·  EduTech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408615" y="384048"/>
            <a:ext cx="384048" cy="384048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89265" y="464698"/>
            <a:ext cx="222747" cy="222747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2234" y="537667"/>
            <a:ext cx="76809" cy="76809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4103" y="4023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F3FBF"/>
                </a:solidFill>
                <a:latin typeface="Arial Black"/>
              </a:rPr>
              <a:t>Maqsat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320040"/>
            <a:ext cx="182880" cy="182880"/>
          </a:xfrm>
          <a:prstGeom prst="ellipse">
            <a:avLst/>
          </a:prstGeom>
          <a:solidFill>
            <a:srgbClr val="2F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749808"/>
            <a:ext cx="146304" cy="146304"/>
          </a:xfrm>
          <a:prstGeom prst="ellipse">
            <a:avLst/>
          </a:prstGeom>
          <a:solidFill>
            <a:srgbClr val="2F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11679" y="320040"/>
            <a:ext cx="182880" cy="182880"/>
          </a:xfrm>
          <a:prstGeom prst="ellipse">
            <a:avLst/>
          </a:prstGeom>
          <a:solidFill>
            <a:srgbClr val="2F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F3FBF"/>
                </a:solidFill>
                <a:latin typeface="Arial Black"/>
              </a:rPr>
              <a:t>ДАЛЬШЕ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4708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11424"/>
                </a:solidFill>
                <a:latin typeface="Arial Black"/>
              </a:rPr>
              <a:t>КАК ИЗМЕРИМ ЭФФЕКТ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" y="2994660"/>
            <a:ext cx="502920" cy="502920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9993" y="3100273"/>
            <a:ext cx="291693" cy="291693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5548" y="3195827"/>
            <a:ext cx="100584" cy="10058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017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F3FBF"/>
                </a:solidFill>
                <a:latin typeface="Arial Black"/>
              </a:rPr>
              <a:t>Заявки до дедлайна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290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главная метрика</a:t>
            </a:r>
          </a:p>
        </p:txBody>
      </p:sp>
      <p:sp>
        <p:nvSpPr>
          <p:cNvPr id="17" name="Oval 16"/>
          <p:cNvSpPr/>
          <p:nvPr/>
        </p:nvSpPr>
        <p:spPr>
          <a:xfrm>
            <a:off x="3589020" y="2994660"/>
            <a:ext cx="502920" cy="502920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94633" y="3100273"/>
            <a:ext cx="291693" cy="291693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90188" y="3195827"/>
            <a:ext cx="100584" cy="10058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3017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F3FBF"/>
                </a:solidFill>
                <a:latin typeface="Arial Black"/>
              </a:rPr>
              <a:t>Шаги в срок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4290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работает ли план</a:t>
            </a:r>
          </a:p>
        </p:txBody>
      </p:sp>
      <p:sp>
        <p:nvSpPr>
          <p:cNvPr id="22" name="Oval 21"/>
          <p:cNvSpPr/>
          <p:nvPr/>
        </p:nvSpPr>
        <p:spPr>
          <a:xfrm>
            <a:off x="6423659" y="2994660"/>
            <a:ext cx="502920" cy="502920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29273" y="3100273"/>
            <a:ext cx="291693" cy="291693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24828" y="3195827"/>
            <a:ext cx="100584" cy="10058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3017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F3FBF"/>
                </a:solidFill>
                <a:latin typeface="Arial Black"/>
              </a:rPr>
              <a:t>&lt; 3 минут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4290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до готового плана</a:t>
            </a:r>
          </a:p>
        </p:txBody>
      </p:sp>
      <p:sp>
        <p:nvSpPr>
          <p:cNvPr id="27" name="Oval 26"/>
          <p:cNvSpPr/>
          <p:nvPr/>
        </p:nvSpPr>
        <p:spPr>
          <a:xfrm>
            <a:off x="9258300" y="2994660"/>
            <a:ext cx="502920" cy="502920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63913" y="3100273"/>
            <a:ext cx="291693" cy="291693"/>
          </a:xfrm>
          <a:prstGeom prst="ellipse">
            <a:avLst/>
          </a:prstGeom>
          <a:noFill/>
          <a:ln w="25400">
            <a:solidFill>
              <a:srgbClr val="2F3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59468" y="3195827"/>
            <a:ext cx="100584" cy="100584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40" y="3017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F3FBF"/>
                </a:solidFill>
                <a:latin typeface="Arial Black"/>
              </a:rPr>
              <a:t>«Почти» → «подходишь»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34290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помогает ли разбор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20624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F3FBF"/>
                </a:solidFill>
                <a:latin typeface="Arial Black"/>
              </a:rPr>
              <a:t>Дорожная карта: </a:t>
            </a:r>
            <a:r>
              <a:rPr sz="1200" b="0" i="0">
                <a:solidFill>
                  <a:srgbClr val="111424"/>
                </a:solidFill>
                <a:latin typeface="Arial Black"/>
              </a:rPr>
              <a:t>Казахский язык · база 100+ возможностей с проверкой модератором · еженедельная автопроверка источников · Telegram-напоминания · режим для профориентатора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492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11424"/>
                </a:solidFill>
                <a:latin typeface="Arial Black"/>
              </a:rPr>
              <a:t>Команда: Bolatbay Yersultan · Zharkynuly Eren · Kydyrkhan Olzhas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6072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F62"/>
                </a:solidFill>
                <a:latin typeface="Arial Black"/>
              </a:rPr>
              <a:t>GitHub: [ссылка]   ·   Демо: [ссылка]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5440680"/>
            <a:ext cx="2286000" cy="457200"/>
          </a:xfrm>
          <a:prstGeom prst="rect">
            <a:avLst/>
          </a:prstGeom>
          <a:solidFill>
            <a:srgbClr val="2F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Arial Black"/>
              </a:rPr>
              <a:t>Спасибо!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