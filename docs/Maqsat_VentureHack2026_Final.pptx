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Maqsat — по-казахски «цель». Мы помогаем пройти путь от «я где-то слышал о программе» до «заявка отправлена вовремя».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 финала начинается ровно с этих трёх ситуаций. Наш продукт отвечает на каждую: подбор, проверка условий,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Верхние цифры — наш собственный сбор данных (экран «Откуда данные»). Нижние — опрос учеников: 24 ответа, 2 исключены (бессмысленные), выборка смещена к 12 классу и студентам — так и говорите.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Интервью: школьный профориентатор, завуч, учитель английского, ученик, подававший на FLEX, родитель. Юзабилити-тест: 6 учеников 10–12 класса прошли его на расстоянии через #test, результаты прислали сами (таблица в docs/research-plan.md). Выборка маленькая и без 9 класса — так и говорите. Подчеркните: изменения сделаны в ту же ночь.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 отличие от каналов с объявлениями: мы не просто показываем возможность, а говорим, подходит ли она именно тебе и чего не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главная → «Посмотреть на примере». Показать карточку ML School (дедлайн 8 октября), Yale (почти: английский), НУ (позже, 2028).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добавить 2–3 возможности → «Мой план» → показать предупреждение о двух дедлайнах → нажать «Добавить в календарь». Запасной путь: #demo-plan.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прямой ответ на принцип кейса «Evidence over assumptions»: мы показываем пользователю, насколько можно доверять каждому факту.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говорите, что аналогов нет: жюри знает Telegram-каналы и агрегаторы. Наше отличие — персональная проверка условий и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280160" y="228599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08960" y="82296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9624" y="374904"/>
            <a:ext cx="164592" cy="164592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1645919"/>
            <a:ext cx="4206240" cy="4206240"/>
          </a:xfrm>
          <a:prstGeom prst="ellipse">
            <a:avLst/>
          </a:prstGeom>
          <a:solidFill>
            <a:srgbClr val="ECEEFC"/>
          </a:solidFill>
          <a:ln w="38100">
            <a:solidFill>
              <a:srgbClr val="C3C9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2240279"/>
            <a:ext cx="3017520" cy="3017520"/>
          </a:xfrm>
          <a:prstGeom prst="ellipse">
            <a:avLst/>
          </a:prstGeom>
          <a:solidFill>
            <a:srgbClr val="C3C9F4"/>
          </a:solidFill>
          <a:ln w="38100">
            <a:solidFill>
              <a:srgbClr val="6E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83080" y="2834639"/>
            <a:ext cx="1828800" cy="182880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3337559"/>
            <a:ext cx="822960" cy="8229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100">
                <a:solidFill>
                  <a:srgbClr val="111424"/>
                </a:solidFill>
                <a:latin typeface="Arial Black"/>
              </a:rPr>
              <a:t>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73735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F3FBF"/>
                </a:solidFill>
                <a:latin typeface="Arial Black"/>
              </a:rPr>
              <a:t>ВОЗМОЖНОСТЬ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1A247A"/>
                </a:solidFill>
                <a:latin typeface="Arial Black"/>
              </a:rPr>
              <a:t>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971799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Arial Black"/>
              </a:rPr>
              <a:t>ШАГИ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11424"/>
                </a:solidFill>
                <a:latin typeface="Arial Black"/>
              </a:rPr>
              <a:t>ОТ ВОЗМОЖНОСТИ К РЕЗУЛЬТАТУ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20440"/>
            <a:ext cx="5852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Подбор образовательных возможностей и план назад от дедлайна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5196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62"/>
                </a:solidFill>
                <a:latin typeface="Arial Black"/>
              </a:rPr>
              <a:t>Олимпиады, стипендии, обменные и летние программы, бесплатные IT-школы — кто подходит, чего не хватает и что делать на этой неделе. Мақсат (каз.) — цель.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5349240"/>
            <a:ext cx="301752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Финал · EduTech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94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ПРОБЛЕМА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ЕСТЬ — ДОЙТИ ДО НИХ СЛОЖНО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377440"/>
            <a:ext cx="731520" cy="731520"/>
          </a:xfrm>
          <a:prstGeom prst="ellipse">
            <a:avLst/>
          </a:prstGeom>
          <a:solidFill>
            <a:srgbClr val="B3312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B3312F"/>
                </a:solidFill>
                <a:latin typeface="Arial Black"/>
              </a:rPr>
              <a:t>Узнал после дедлайна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Информация разбросана по десяткам сайтов и каналов. О конкурсе узнают, когда регистрация уже закрыта.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377440"/>
            <a:ext cx="731520" cy="731520"/>
          </a:xfrm>
          <a:prstGeom prst="ellipse">
            <a:avLst/>
          </a:prstGeom>
          <a:solidFill>
            <a:srgbClr val="9A52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9A5200"/>
                </a:solidFill>
                <a:latin typeface="Arial Black"/>
              </a:rPr>
              <a:t>Не понял, подходит ли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«Sophomore or junior (or equivalent)», «16–17 лет на 1 сентября года поступления», «IELTS 6.0, Writing 6.0» — условия написаны не для школьника.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743200"/>
            <a:ext cx="3474720" cy="3063240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30767" y="2377440"/>
            <a:ext cx="731520" cy="731520"/>
          </a:xfrm>
          <a:prstGeom prst="ellipse">
            <a:avLst/>
          </a:prstGeom>
          <a:solidFill>
            <a:srgbClr val="5B48C9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8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375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5B48C9"/>
                </a:solidFill>
                <a:latin typeface="Arial Black"/>
              </a:rPr>
              <a:t>Начал слишком поздно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69080"/>
            <a:ext cx="2971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Сертификат IELTS, рекомендации и эссе требуют недель. За 2–3 недели до дедлайна часть шагов уже не успеть.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Все три ситуации — из текста финального кейса. Ниже — что мы увидели сами, когда собирали данные.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ИССЛЕДОВАНИЕ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«НЕ ЗНАЛ ВОВРЕМЯ» — БАРЬЕР №1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0C7A5C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нового
цикла опубликованы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9A5200"/>
                </a:solidFill>
                <a:latin typeface="Arial Black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только оценка
по прошлому году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B331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B3312F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даты нет
вообще</a:t>
            </a:r>
          </a:p>
        </p:txBody>
      </p:sp>
      <p:sp>
        <p:nvSpPr>
          <p:cNvPr id="14" name="Oval 13"/>
          <p:cNvSpPr/>
          <p:nvPr/>
        </p:nvSpPr>
        <p:spPr>
          <a:xfrm>
            <a:off x="8641080" y="2331720"/>
            <a:ext cx="1828800" cy="1828800"/>
          </a:xfrm>
          <a:prstGeom prst="ellipse">
            <a:avLst/>
          </a:prstGeom>
          <a:solidFill>
            <a:srgbClr val="FFFFFF"/>
          </a:solidFill>
          <a:ln w="635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4400">
                <a:solidFill>
                  <a:srgbClr val="2F3FB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62"/>
                </a:solidFill>
                <a:latin typeface="Arial Black"/>
              </a:rPr>
              <a:t>из 13 — набор
идёт постоянно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11424"/>
                </a:solidFill>
                <a:latin typeface="Arial Black"/>
              </a:rPr>
              <a:t>Мы сами собрали 13 возможностей для школьников Казахстана по официальным сайтам и открытым источникам 26.09.2026.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40680"/>
            <a:ext cx="1088136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5778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Опрос учеников</a:t>
            </a:r>
          </a:p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n = 22, 26.09.2026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главный барьер —
«не знал вовремя»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узнают на сайтах
организаторов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1464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41%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не всегда понимают,
подходят 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54864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2F3FBF"/>
                </a:solidFill>
                <a:latin typeface="Arial Black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5943600"/>
            <a:ext cx="2057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F62"/>
                </a:solidFill>
                <a:latin typeface="Arial Black"/>
              </a:rPr>
              <a:t>воспользовались бы
(да + возможно)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ИНТЕРВЬЮ И ТЕСТ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5 ИНТЕРВЬЮ, 6 УЧЕНИКОВ — И ЧТО МЫ ИЗМЕНИЛИ ЗА НОЧЬ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3172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4144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«Иногда ученик узнаёт о программе за несколько дней до дедлайна и не успевает получить рекомендацию»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81527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школьный профориентатор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20439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63016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«Рекомендации и документы требуют участия школы — их нельзя подготовить в последний день»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7024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заместитель директора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60"/>
            <a:ext cx="5760720" cy="105156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18888"/>
            <a:ext cx="5394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11424"/>
                </a:solidFill>
                <a:latin typeface="Arial Black"/>
              </a:rPr>
              <a:t>«Не доверяю формулировке «полная стипендия» без ссылки на условия»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589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2F3FBF"/>
                </a:solidFill>
                <a:latin typeface="Arial Black"/>
              </a:rPr>
              <a:t>— родитель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2402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ДОБАВИЛИ ПО ПРОСЬБАМ</a:t>
            </a:r>
          </a:p>
        </p:txBody>
      </p:sp>
      <p:sp>
        <p:nvSpPr>
          <p:cNvPr id="18" name="Oval 17"/>
          <p:cNvSpPr/>
          <p:nvPr/>
        </p:nvSpPr>
        <p:spPr>
          <a:xfrm>
            <a:off x="6757416" y="264261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18863" y="270406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74459" y="275965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6060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🏫 через школу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95351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шаги с рекомендациями и документами отмечены в плане</a:t>
            </a:r>
          </a:p>
        </p:txBody>
      </p:sp>
      <p:sp>
        <p:nvSpPr>
          <p:cNvPr id="23" name="Oval 22"/>
          <p:cNvSpPr/>
          <p:nvPr/>
        </p:nvSpPr>
        <p:spPr>
          <a:xfrm>
            <a:off x="6757416" y="346557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18863" y="352702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74459" y="358261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34290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Заявка отправлена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77647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закрывает подготовку, этап отбора остаётся</a:t>
            </a:r>
          </a:p>
        </p:txBody>
      </p:sp>
      <p:sp>
        <p:nvSpPr>
          <p:cNvPr id="28" name="Oval 27"/>
          <p:cNvSpPr/>
          <p:nvPr/>
        </p:nvSpPr>
        <p:spPr>
          <a:xfrm>
            <a:off x="6757416" y="428853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18863" y="434998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74459" y="440557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25196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Свои задачи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59943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плане и календаре, даже без дедлайна</a:t>
            </a:r>
          </a:p>
        </p:txBody>
      </p:sp>
      <p:sp>
        <p:nvSpPr>
          <p:cNvPr id="33" name="Oval 32"/>
          <p:cNvSpPr/>
          <p:nvPr/>
        </p:nvSpPr>
        <p:spPr>
          <a:xfrm>
            <a:off x="6757416" y="5111496"/>
            <a:ext cx="292608" cy="29260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18863" y="5172943"/>
            <a:ext cx="169712" cy="169712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4459" y="5228539"/>
            <a:ext cx="58521" cy="58521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0" y="507492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Стоимость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42239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 каждой карточке; «бесплатно» — только если подтверждено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F3FBF"/>
                </a:solidFill>
                <a:latin typeface="Arial Black"/>
              </a:rPr>
              <a:t>Юзабилити-тест: 6 учеников (10–12 класс) сами нашли возможность и добавили её в план — медиана 1:31 (от 0:57 до 2:55). 6 из 6 воспользовались бы. 3 из 6 не поняли «средний балл» — исправили.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РЕШЕНИЕ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ПРОФИЛЬ → ПОДБОР → ПЛАН → КАЛЕНДАРЬ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80010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Профиль за минуту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Возраст, класс, английский или IELTS, средний балл, город, интересы. Без регистрации.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79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89019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7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Подбор с проверкой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Для каждой возможности: подходишь, почти (и чего не хватает) или станет доступно позже.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0" y="2743200"/>
            <a:ext cx="1828800" cy="0"/>
          </a:xfrm>
          <a:prstGeom prst="line">
            <a:avLst/>
          </a:prstGeom>
          <a:ln w="25400">
            <a:solidFill>
              <a:srgbClr val="C3C9F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77940" y="2308860"/>
            <a:ext cx="868680" cy="868680"/>
          </a:xfrm>
          <a:prstGeom prst="ellipse">
            <a:avLst/>
          </a:prstGeom>
          <a:solidFill>
            <a:srgbClr val="2F3FB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План назад от дедлайна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Когда записаться на IELTS, просить рекомендации, писать эссе. И на годы вперёд: «доступно в 2028» → цель с планом с сегодняшнего дня.</a:t>
            </a:r>
          </a:p>
        </p:txBody>
      </p:sp>
      <p:sp>
        <p:nvSpPr>
          <p:cNvPr id="20" name="Oval 19"/>
          <p:cNvSpPr/>
          <p:nvPr/>
        </p:nvSpPr>
        <p:spPr>
          <a:xfrm>
            <a:off x="9166859" y="2308860"/>
            <a:ext cx="868680" cy="868680"/>
          </a:xfrm>
          <a:prstGeom prst="ellipse">
            <a:avLst/>
          </a:prstGeom>
          <a:solidFill>
            <a:srgbClr val="F2A90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2200">
                <a:solidFill>
                  <a:srgbClr val="11142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342900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Календарь и прогресс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62"/>
                </a:solidFill>
                <a:latin typeface="Arial Black"/>
              </a:rPr>
              <a:t>Все шаги — в календарь телефона с напоминаниями. «Сделай сегодня» и прогресс по целям.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На любом телефоне и без интернета · без регистрации · русский и қазақша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ПОДБОР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НЕ СПИСОК, А ПРОВЕРКА УСЛОВИЙ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377440"/>
            <a:ext cx="2377440" cy="749808"/>
          </a:xfrm>
          <a:prstGeom prst="rect">
            <a:avLst/>
          </a:prstGeom>
          <a:solidFill>
            <a:srgbClr val="DC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0C7A5C"/>
                </a:solidFill>
                <a:latin typeface="Arial Black"/>
              </a:rPr>
              <a:t>✓ ПОДХОДИШЬ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46888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для 10-классника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Возраст считается на 1 сентября года поступления: будет 17 — подходит.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246120"/>
            <a:ext cx="2377440" cy="749808"/>
          </a:xfrm>
          <a:prstGeom prst="rect">
            <a:avLst/>
          </a:prstGeom>
          <a:solidFill>
            <a:srgbClr val="FDE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9A5200"/>
                </a:solidFill>
                <a:latin typeface="Arial Black"/>
              </a:rPr>
              <a:t>△ ПОЧТИ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Yale Young Global Scholars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1927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Английский B1, ориентир — B2. План сам добавит шаги по языку.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2377440" cy="749808"/>
          </a:xfrm>
          <a:prstGeom prst="rect">
            <a:avLst/>
          </a:prstGeom>
          <a:solidFill>
            <a:srgbClr val="EBE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5B48C9"/>
                </a:solidFill>
                <a:latin typeface="Arial Black"/>
              </a:rPr>
              <a:t>⏳ ПОЗЖЕ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206240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Назарбаев Университет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187952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Сейчас 10 класс → «доступно в 2028». Можно сразу сделать это целью: план начинается сегодня.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8813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79"/>
            <a:ext cx="2377440" cy="749808"/>
          </a:xfrm>
          <a:prstGeom prst="rect">
            <a:avLst/>
          </a:prstGeom>
          <a:solidFill>
            <a:srgbClr val="FBE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300">
                <a:solidFill>
                  <a:srgbClr val="B3312F"/>
                </a:solidFill>
                <a:latin typeface="Arial Black"/>
              </a:rPr>
              <a:t>✗ НЕ ПОДХОДИТ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5074919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UWC без гражданства РК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56631"/>
            <a:ext cx="49834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Гражданство или ВНЖ — жёсткое условие; такие программы скрыты по умолчанию.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94"/>
                </a:solidFill>
                <a:latin typeface="Arial Black"/>
              </a:rPr>
              <a:t>Примеры — реальный результат приложения для демо-профиля: 10 класс, Алматы, английский B1.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19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ДЕМО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ВОЗМОЖНОСТИ ДЛЯ ТЕБЯ</a:t>
            </a:r>
          </a:p>
        </p:txBody>
      </p:sp>
      <p:pic>
        <p:nvPicPr>
          <p:cNvPr id="9" name="Picture 8" descr="matches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640080" y="2331720"/>
            <a:ext cx="6675120" cy="4171950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7799831" y="23134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5120" y="23787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24190" y="24377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Статус и пробелы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517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подходишь / почти / позже — с объяснением по каждому условию</a:t>
            </a:r>
          </a:p>
        </p:txBody>
      </p:sp>
      <p:sp>
        <p:nvSpPr>
          <p:cNvPr id="15" name="Oval 14"/>
          <p:cNvSpPr/>
          <p:nvPr/>
        </p:nvSpPr>
        <p:spPr>
          <a:xfrm>
            <a:off x="7799831" y="32278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5120" y="32931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4190" y="33521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2004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Дедлайн и отсчёт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5661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«через 12 дней»; красным — если меньше 3 недель</a:t>
            </a:r>
          </a:p>
        </p:txBody>
      </p:sp>
      <p:sp>
        <p:nvSpPr>
          <p:cNvPr id="20" name="Oval 19"/>
          <p:cNvSpPr/>
          <p:nvPr/>
        </p:nvSpPr>
        <p:spPr>
          <a:xfrm>
            <a:off x="7799831" y="41422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5120" y="42075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24190" y="42665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41148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Честная дата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4805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«ориентировочно» и на чём основана оценка</a:t>
            </a:r>
          </a:p>
        </p:txBody>
      </p:sp>
      <p:sp>
        <p:nvSpPr>
          <p:cNvPr id="25" name="Oval 24"/>
          <p:cNvSpPr/>
          <p:nvPr/>
        </p:nvSpPr>
        <p:spPr>
          <a:xfrm>
            <a:off x="7799831" y="50566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5120" y="51219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4190" y="51809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5029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2F3FBF"/>
                </a:solidFill>
                <a:latin typeface="Arial Black"/>
              </a:rPr>
              <a:t>Источник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539496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ссылка на официальный сайт и дата проверки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5989320"/>
            <a:ext cx="3108960" cy="41148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Живое демо: #demo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0" y="182880"/>
            <a:ext cx="7863840" cy="7863840"/>
          </a:xfrm>
          <a:prstGeom prst="ellipse">
            <a:avLst/>
          </a:prstGeom>
          <a:solidFill>
            <a:srgbClr val="EC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29290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2259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68680"/>
            <a:ext cx="4572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18488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НАЗАД ОТ ДЕДЛАЙНА</a:t>
            </a:r>
          </a:p>
        </p:txBody>
      </p:sp>
      <p:pic>
        <p:nvPicPr>
          <p:cNvPr id="9" name="Picture 8" descr="plan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4846320" y="1234440"/>
            <a:ext cx="6720840" cy="4200525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10" name="Oval 9"/>
          <p:cNvSpPr/>
          <p:nvPr/>
        </p:nvSpPr>
        <p:spPr>
          <a:xfrm>
            <a:off x="640080" y="2542032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5368" y="2607320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4438" y="2666390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Сделай сегодня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62072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один следующий шаг, а не список на полгода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74720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5368" y="3540008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4438" y="3599078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4472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Конфликт дедлайнов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94760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UWC 5 января и Yale 6 января — видно заранее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407408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5368" y="4472696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4438" y="4531766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7997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Сжатый график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727448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опоздал с началом — шаги сжимаются, есть более поздний раунд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340096"/>
            <a:ext cx="310896" cy="310896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05368" y="5405384"/>
            <a:ext cx="180319" cy="180319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4438" y="5464454"/>
            <a:ext cx="62179" cy="6217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31266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F3FBF"/>
                </a:solidFill>
                <a:latin typeface="Arial Black"/>
              </a:rPr>
              <a:t>Календарь и печать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660136"/>
            <a:ext cx="3566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.ics с напоминаниями; версия для родителей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МЫ НЕ ПРИДУМЫВАЕМ ДАТЫ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77440"/>
            <a:ext cx="2834640" cy="658368"/>
          </a:xfrm>
          <a:prstGeom prst="rect">
            <a:avLst/>
          </a:prstGeom>
          <a:solidFill>
            <a:srgbClr val="DCF2EA"/>
          </a:solidFill>
          <a:ln w="19050">
            <a:solidFill>
              <a:srgbClr val="0C7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0C7A5C"/>
                </a:solidFill>
                <a:latin typeface="Arial Black"/>
              </a:rPr>
              <a:t>без пометки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Сверено с официальным сайтом организатора 26.09.2026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0400"/>
            <a:ext cx="2834640" cy="658368"/>
          </a:xfrm>
          <a:prstGeom prst="rect">
            <a:avLst/>
          </a:prstGeom>
          <a:solidFill>
            <a:srgbClr val="FDECD6"/>
          </a:solidFill>
          <a:ln w="19050">
            <a:solidFill>
              <a:srgbClr val="9A5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9A5200"/>
                </a:solidFill>
                <a:latin typeface="Arial Black"/>
              </a:rPr>
              <a:t>УТОЧНИТЕ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9184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По открытым источникам или СМИ — проверьте перед подачей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23360"/>
            <a:ext cx="2834640" cy="658368"/>
          </a:xfrm>
          <a:prstGeom prst="rect">
            <a:avLst/>
          </a:prstGeom>
          <a:solidFill>
            <a:srgbClr val="EBE7FB"/>
          </a:solidFill>
          <a:ln w="19050">
            <a:solidFill>
              <a:srgbClr val="5B48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5B48C9"/>
                </a:solidFill>
                <a:latin typeface="Arial Black"/>
              </a:rPr>
              <a:t>НАША ОЦЕНКА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411480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Организатор не называет значение (например, уровень английского)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46320"/>
            <a:ext cx="2834640" cy="658368"/>
          </a:xfrm>
          <a:prstGeom prst="rect">
            <a:avLst/>
          </a:prstGeom>
          <a:solidFill>
            <a:srgbClr val="FFF1D6"/>
          </a:solidFill>
          <a:ln w="19050">
            <a:solidFill>
              <a:srgbClr val="B8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B87700"/>
                </a:solidFill>
                <a:latin typeface="Arial Black"/>
              </a:rPr>
              <a:t>ОРИЕНТИРОВОЧНО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937760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11424"/>
                </a:solidFill>
                <a:latin typeface="Arial Black"/>
              </a:rPr>
              <a:t>Срок нового цикла не объявлен — дата по прошлому циклу и её основание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Срок не опубликован? Не угадываем — пользователь указывает дату сам, когда её объявят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КОНКУРЕНТЫ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ЧЕМ МЫ ОТЛИЧАЕМСЯ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194560"/>
            <a:ext cx="6583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94"/>
                </a:solidFill>
                <a:latin typeface="Arial Black"/>
              </a:rPr>
              <a:t>ЧТО ЕСТЬ СЕЙЧАС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8775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Telegram-каналы с объявлениями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569464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Лента постов: быстро, но без проверки условий и без плана; старое уходит вниз.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27832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30098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Сайты-агрегаторы возможностей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282696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Большие каталоги на английском; фильтры по стране и типу, но не по твоему профилю.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41064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1421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Официальные сайты программ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95928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Точные условия, но у каждой программы свой сайт, свой язык и свой календарь.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54296"/>
            <a:ext cx="10881360" cy="621792"/>
          </a:xfrm>
          <a:prstGeom prst="rect">
            <a:avLst/>
          </a:prstGeom>
          <a:solidFill>
            <a:srgbClr val="F6F7FB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11424"/>
                </a:solidFill>
                <a:latin typeface="Arial Black"/>
              </a:rPr>
              <a:t>Школьный учитель / профориентатор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09159"/>
            <a:ext cx="64922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Знает учеников, но не успевает следить за десятками программ и сроков.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Maqsat: проверка условий под твой профиль + план назад от дедлайна + календарь + честные данные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6868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ТЕХНИКА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ПРОСТО, НАДЁЖНО, ДОСТУПНО</a:t>
            </a:r>
          </a:p>
        </p:txBody>
      </p:sp>
      <p:pic>
        <p:nvPicPr>
          <p:cNvPr id="8" name="Picture 7" descr="mobile.png"/>
          <p:cNvPicPr>
            <a:picLocks noChangeAspect="1"/>
          </p:cNvPicPr>
          <p:nvPr/>
        </p:nvPicPr>
        <p:blipFill>
          <a:blip r:embed="rId2"/>
          <a:srcRect b="10000"/>
          <a:stretch>
            <a:fillRect/>
          </a:stretch>
        </p:blipFill>
        <p:spPr>
          <a:xfrm>
            <a:off x="9098280" y="1097280"/>
            <a:ext cx="2423160" cy="4710623"/>
          </a:xfrm>
          <a:prstGeom prst="rect">
            <a:avLst/>
          </a:prstGeom>
          <a:ln w="12700">
            <a:solidFill>
              <a:srgbClr val="DADEEC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64008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HTML/CSS/JS без зависимостей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Данные отделены от движка: новая возможность — одна запись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Календарь по стандарту iCalendar (RFC 5545)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42 автотеста — запускаются на GitHub при каждом изменении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Раз в неделю робот проверяет все ссылки-источники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92040" y="2331720"/>
            <a:ext cx="402336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56032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2F3FBF"/>
                </a:solidFill>
                <a:latin typeface="Arial Black"/>
              </a:rPr>
              <a:t>Доступность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0896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Без регистрации; данные — только на устройстве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Работает офлайн (PWA), ставится на телефон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Русский и қазақша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Клавиатура, экранные дикторы, крупные кнопки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62"/>
                </a:solidFill>
                <a:latin typeface="Arial Black"/>
              </a:rPr>
              <a:t>Тёмная тема, печать для родителей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94"/>
                </a:solidFill>
                <a:latin typeface="Arial Black"/>
              </a:rPr>
              <a:t>VentureHack 2026  ·  Финал  ·  EduTech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0408615" y="384048"/>
            <a:ext cx="384048" cy="384048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89265" y="464698"/>
            <a:ext cx="222747" cy="222747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62234" y="537667"/>
            <a:ext cx="76809" cy="76809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410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2F3FBF"/>
                </a:solidFill>
                <a:latin typeface="Arial Black"/>
              </a:rPr>
              <a:t>Maqsat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2F3FBF"/>
                </a:solidFill>
                <a:latin typeface="Arial Black"/>
              </a:rPr>
              <a:t>ДАЛЬШЕ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424"/>
                </a:solidFill>
                <a:latin typeface="Arial Black"/>
              </a:rPr>
              <a:t>КАК ИЗМЕРИМ ЭФФЕКТ</a:t>
            </a:r>
          </a:p>
        </p:txBody>
      </p:sp>
      <p:sp>
        <p:nvSpPr>
          <p:cNvPr id="12" name="Oval 11"/>
          <p:cNvSpPr/>
          <p:nvPr/>
        </p:nvSpPr>
        <p:spPr>
          <a:xfrm>
            <a:off x="75438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999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5554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Заявки до дедлайна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главная метрика</a:t>
            </a:r>
          </a:p>
        </p:txBody>
      </p:sp>
      <p:sp>
        <p:nvSpPr>
          <p:cNvPr id="17" name="Oval 16"/>
          <p:cNvSpPr/>
          <p:nvPr/>
        </p:nvSpPr>
        <p:spPr>
          <a:xfrm>
            <a:off x="358902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9463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8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6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Шаги в срок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работает ли план</a:t>
            </a:r>
          </a:p>
        </p:txBody>
      </p:sp>
      <p:sp>
        <p:nvSpPr>
          <p:cNvPr id="22" name="Oval 21"/>
          <p:cNvSpPr/>
          <p:nvPr/>
        </p:nvSpPr>
        <p:spPr>
          <a:xfrm>
            <a:off x="6423659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2927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2482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&lt; 3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до готового плана</a:t>
            </a:r>
          </a:p>
        </p:txBody>
      </p:sp>
      <p:sp>
        <p:nvSpPr>
          <p:cNvPr id="27" name="Oval 26"/>
          <p:cNvSpPr/>
          <p:nvPr/>
        </p:nvSpPr>
        <p:spPr>
          <a:xfrm>
            <a:off x="9258300" y="2994660"/>
            <a:ext cx="502920" cy="502920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63913" y="3100273"/>
            <a:ext cx="291693" cy="291693"/>
          </a:xfrm>
          <a:prstGeom prst="ellipse">
            <a:avLst/>
          </a:prstGeom>
          <a:noFill/>
          <a:ln w="25400">
            <a:solidFill>
              <a:srgbClr val="2F3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59468" y="3195827"/>
            <a:ext cx="100584" cy="10058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0175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F3FBF"/>
                </a:solidFill>
                <a:latin typeface="Arial Black"/>
              </a:rPr>
              <a:t>«Почти» → «подходишь»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4290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помогает ли разбор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F3FBF"/>
                </a:solidFill>
                <a:latin typeface="Arial Black"/>
              </a:rPr>
              <a:t>Дорожная карта: </a:t>
            </a:r>
            <a:r>
              <a:rPr sz="1200" b="0" i="0">
                <a:solidFill>
                  <a:srgbClr val="111424"/>
                </a:solidFill>
                <a:latin typeface="Arial Black"/>
              </a:rPr>
              <a:t>Вычитка казахского и перевод описаний · база 100+ возможностей с проверкой модератором · сравнение содержимого страниц-источников · Telegram-напоминания · режим для профориентатора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4924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424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607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62"/>
                </a:solidFill>
                <a:latin typeface="Arial Black"/>
              </a:rPr>
              <a:t>GitHub: github.com/sas1k00/hackatonishe   ·   Демо: sas1k00.github.io/hackatonishe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5440680"/>
            <a:ext cx="2286000" cy="457200"/>
          </a:xfrm>
          <a:prstGeom prst="rect">
            <a:avLst/>
          </a:prstGeom>
          <a:solidFill>
            <a:srgbClr val="2F3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18288" bIns="18288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